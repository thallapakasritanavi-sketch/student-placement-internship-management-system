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58" r:id="rId4"/>
    <p:sldId id="261" r:id="rId5"/>
    <p:sldId id="262" r:id="rId6"/>
    <p:sldId id="263" r:id="rId7"/>
    <p:sldId id="264" r:id="rId8"/>
    <p:sldId id="265" r:id="rId9"/>
    <p:sldId id="266" r:id="rId10"/>
    <p:sldId id="259" r:id="rId11"/>
    <p:sldId id="260" r:id="rId12"/>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11605-C495-4FB3-81D6-BAB5C92885CE}" v="5" dt="2026-10-17T03:07:22.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llapakasritanavi@gmail.com" userId="ca8b25171f1ef2f4" providerId="LiveId" clId="{B39BC8E7-EAD7-45E4-ABEA-2371A8641612}"/>
    <pc:docChg chg="undo custSel modSld">
      <pc:chgData name="thallapakasritanavi@gmail.com" userId="ca8b25171f1ef2f4" providerId="LiveId" clId="{B39BC8E7-EAD7-45E4-ABEA-2371A8641612}" dt="2026-10-24T13:24:44.135" v="874" actId="1036"/>
      <pc:docMkLst>
        <pc:docMk/>
      </pc:docMkLst>
      <pc:sldChg chg="modSp mod">
        <pc:chgData name="thallapakasritanavi@gmail.com" userId="ca8b25171f1ef2f4" providerId="LiveId" clId="{B39BC8E7-EAD7-45E4-ABEA-2371A8641612}" dt="2026-10-17T03:07:50.544" v="873" actId="255"/>
        <pc:sldMkLst>
          <pc:docMk/>
          <pc:sldMk cId="3811643224" sldId="259"/>
        </pc:sldMkLst>
        <pc:spChg chg="mod">
          <ac:chgData name="thallapakasritanavi@gmail.com" userId="ca8b25171f1ef2f4" providerId="LiveId" clId="{B39BC8E7-EAD7-45E4-ABEA-2371A8641612}" dt="2026-10-17T03:07:50.544" v="873" actId="255"/>
          <ac:spMkLst>
            <pc:docMk/>
            <pc:sldMk cId="3811643224" sldId="259"/>
            <ac:spMk id="3" creationId="{9BC309EE-F211-8F10-9087-6FE7260000F2}"/>
          </ac:spMkLst>
        </pc:spChg>
      </pc:sldChg>
      <pc:sldChg chg="modSp mod">
        <pc:chgData name="thallapakasritanavi@gmail.com" userId="ca8b25171f1ef2f4" providerId="LiveId" clId="{B39BC8E7-EAD7-45E4-ABEA-2371A8641612}" dt="2026-10-17T03:05:42.112" v="869" actId="20577"/>
        <pc:sldMkLst>
          <pc:docMk/>
          <pc:sldMk cId="0" sldId="262"/>
        </pc:sldMkLst>
        <pc:spChg chg="mod">
          <ac:chgData name="thallapakasritanavi@gmail.com" userId="ca8b25171f1ef2f4" providerId="LiveId" clId="{B39BC8E7-EAD7-45E4-ABEA-2371A8641612}" dt="2026-10-17T03:05:42.112" v="869" actId="20577"/>
          <ac:spMkLst>
            <pc:docMk/>
            <pc:sldMk cId="0" sldId="262"/>
            <ac:spMk id="3" creationId="{00000000-0000-0000-0000-000000000000}"/>
          </ac:spMkLst>
        </pc:spChg>
      </pc:sldChg>
      <pc:sldChg chg="modSp mod">
        <pc:chgData name="thallapakasritanavi@gmail.com" userId="ca8b25171f1ef2f4" providerId="LiveId" clId="{B39BC8E7-EAD7-45E4-ABEA-2371A8641612}" dt="2026-10-24T13:24:44.135" v="874" actId="1036"/>
        <pc:sldMkLst>
          <pc:docMk/>
          <pc:sldMk cId="0" sldId="263"/>
        </pc:sldMkLst>
        <pc:spChg chg="mod">
          <ac:chgData name="thallapakasritanavi@gmail.com" userId="ca8b25171f1ef2f4" providerId="LiveId" clId="{B39BC8E7-EAD7-45E4-ABEA-2371A8641612}" dt="2026-10-24T13:24:44.135" v="874" actId="1036"/>
          <ac:spMkLst>
            <pc:docMk/>
            <pc:sldMk cId="0" sldId="26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10/24/2026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10</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24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24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24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24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24 October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24 October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24 October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24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24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24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24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24 October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24 October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spring.io/spring-boot/index.html?utm_source=chatgpt.com" TargetMode="External"/><Relationship Id="rId7" Type="http://schemas.openxmlformats.org/officeDocument/2006/relationships/hyperlink" Target="https://getbootstrap.com/docs/5.3/?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dev.mysql.com/doc/refman/8.0/en/?utm_source=chatgpt.com" TargetMode="External"/><Relationship Id="rId5" Type="http://schemas.openxmlformats.org/officeDocument/2006/relationships/hyperlink" Target="https://www.manning.com/books/java-persistence-with-hibernate?utm_source=chatgpt.com" TargetMode="External"/><Relationship Id="rId4" Type="http://schemas.openxmlformats.org/officeDocument/2006/relationships/hyperlink" Target="https://docs.oracle.com/en/java/javase/17/?utm_source=chatgpt.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3512438"/>
            <a:ext cx="6709143" cy="885409"/>
          </a:xfrm>
        </p:spPr>
        <p:txBody>
          <a:bodyPr>
            <a:normAutofit/>
          </a:bodyPr>
          <a:lstStyle/>
          <a:p>
            <a:pPr algn="ctr"/>
            <a:r>
              <a:rPr sz="2400" b="1" dirty="0">
                <a:solidFill>
                  <a:schemeClr val="tx1"/>
                </a:solidFill>
                <a:latin typeface="Arial"/>
              </a:rPr>
              <a:t>Student Placement &amp; Internship Management System</a:t>
            </a:r>
            <a:endParaRPr lang="en-US" sz="5400" b="1" dirty="0">
              <a:solidFill>
                <a:schemeClr val="tx1"/>
              </a:solidFill>
              <a:latin typeface="Arial" pitchFamily="34" charset="0"/>
              <a:cs typeface="Arial"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24 October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r>
              <a:t>1</a:t>
            </a:r>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42898" y="2245640"/>
            <a:ext cx="8610599" cy="1292662"/>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sz="1800" b="1" dirty="0">
                <a:solidFill>
                  <a:schemeClr val="tx1"/>
                </a:solidFill>
                <a:latin typeface="Arial"/>
              </a:rPr>
              <a:t>PROJECT STUDENT                                              </a:t>
            </a:r>
            <a:r>
              <a:rPr lang="en-IN" sz="1800" b="1" dirty="0">
                <a:solidFill>
                  <a:schemeClr val="tx1"/>
                </a:solidFill>
                <a:latin typeface="Arial"/>
              </a:rPr>
              <a:t>                         </a:t>
            </a:r>
            <a:r>
              <a:rPr sz="1800" b="1" dirty="0">
                <a:solidFill>
                  <a:schemeClr val="tx1"/>
                </a:solidFill>
                <a:latin typeface="Arial"/>
              </a:rPr>
              <a:t>  </a:t>
            </a:r>
            <a:r>
              <a:rPr lang="en-IN" sz="1800" b="1" dirty="0">
                <a:solidFill>
                  <a:schemeClr val="tx1"/>
                </a:solidFill>
                <a:latin typeface="Arial"/>
              </a:rPr>
              <a:t>  </a:t>
            </a:r>
            <a:r>
              <a:rPr sz="1800" b="1" dirty="0">
                <a:solidFill>
                  <a:schemeClr val="tx1"/>
                </a:solidFill>
                <a:latin typeface="Arial"/>
              </a:rPr>
              <a:t>GUIDE</a:t>
            </a:r>
            <a:endParaRPr lang="en-IN" sz="1800" b="1" dirty="0">
              <a:solidFill>
                <a:schemeClr val="tx1"/>
              </a:solidFill>
              <a:latin typeface="Arial"/>
            </a:endParaRPr>
          </a:p>
          <a:p>
            <a:pPr algn="l"/>
            <a:r>
              <a:rPr lang="en-IN" sz="1400" b="1" dirty="0">
                <a:solidFill>
                  <a:schemeClr val="tx1"/>
                </a:solidFill>
                <a:latin typeface="Times New Roman" panose="02020603050405020304" pitchFamily="18" charset="0"/>
                <a:cs typeface="Times New Roman" panose="02020603050405020304" pitchFamily="18" charset="0"/>
              </a:rPr>
              <a:t>T.SRI TANAVI,  44111174</a:t>
            </a:r>
            <a:r>
              <a:rPr sz="1400" b="1"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                </a:t>
            </a:r>
            <a:r>
              <a:rPr sz="1400" b="1"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        </a:t>
            </a:r>
            <a:r>
              <a:rPr sz="1400" b="1"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   </a:t>
            </a:r>
            <a:r>
              <a:rPr sz="1800" b="1" dirty="0">
                <a:solidFill>
                  <a:schemeClr val="tx1"/>
                </a:solidFill>
                <a:latin typeface="Times New Roman" panose="02020603050405020304" pitchFamily="18" charset="0"/>
                <a:cs typeface="Times New Roman" panose="02020603050405020304" pitchFamily="18" charset="0"/>
              </a:rPr>
              <a:t>Mr. Mohammed Haseeb Rakshan</a:t>
            </a:r>
            <a:r>
              <a:rPr lang="en-IN" sz="1800" b="1" dirty="0">
                <a:solidFill>
                  <a:schemeClr val="tx1"/>
                </a:solidFill>
                <a:latin typeface="Times New Roman" panose="02020603050405020304" pitchFamily="18" charset="0"/>
                <a:cs typeface="Times New Roman" panose="02020603050405020304" pitchFamily="18" charset="0"/>
              </a:rPr>
              <a:t> </a:t>
            </a:r>
            <a:r>
              <a:rPr sz="1800" b="1" dirty="0">
                <a:solidFill>
                  <a:schemeClr val="tx1"/>
                </a:solidFill>
                <a:latin typeface="Times New Roman" panose="02020603050405020304" pitchFamily="18" charset="0"/>
                <a:cs typeface="Times New Roman" panose="02020603050405020304" pitchFamily="18" charset="0"/>
              </a:rPr>
              <a:t>p</a:t>
            </a:r>
            <a:endParaRPr lang="en-IN" sz="1800" b="1" dirty="0">
              <a:solidFill>
                <a:schemeClr val="tx1"/>
              </a:solidFill>
              <a:latin typeface="Times New Roman" panose="02020603050405020304" pitchFamily="18" charset="0"/>
              <a:cs typeface="Times New Roman" panose="02020603050405020304" pitchFamily="18" charset="0"/>
            </a:endParaRPr>
          </a:p>
          <a:p>
            <a:pPr algn="l"/>
            <a:r>
              <a:rPr lang="en-IN" sz="1800" b="1" dirty="0">
                <a:solidFill>
                  <a:schemeClr val="tx1"/>
                </a:solidFill>
                <a:latin typeface="Times New Roman" panose="02020603050405020304" pitchFamily="18" charset="0"/>
                <a:cs typeface="Times New Roman" panose="02020603050405020304" pitchFamily="18" charset="0"/>
              </a:rPr>
              <a:t>                                                                                               </a:t>
            </a:r>
            <a:r>
              <a:rPr lang="en-US" sz="1800" b="1" dirty="0">
                <a:solidFill>
                  <a:schemeClr val="tx1"/>
                </a:solidFill>
              </a:rPr>
              <a:t>Associate Professor, CSE</a:t>
            </a:r>
            <a:endParaRPr sz="1800"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1" dirty="0">
                <a:latin typeface="Times New Roman"/>
              </a:rPr>
              <a:t>AGENDA</a:t>
            </a:r>
          </a:p>
        </p:txBody>
      </p:sp>
      <p:sp>
        <p:nvSpPr>
          <p:cNvPr id="3" name="Content Placeholder 2"/>
          <p:cNvSpPr>
            <a:spLocks noGrp="1"/>
          </p:cNvSpPr>
          <p:nvPr>
            <p:ph idx="1"/>
          </p:nvPr>
        </p:nvSpPr>
        <p:spPr>
          <a:xfrm>
            <a:off x="457200" y="1600993"/>
            <a:ext cx="8229600" cy="4525963"/>
          </a:xfrm>
        </p:spPr>
        <p:txBody>
          <a:bodyPr>
            <a:normAutofit/>
          </a:bodyPr>
          <a:lstStyle/>
          <a:p>
            <a:pPr>
              <a:spcAft>
                <a:spcPts val="800"/>
              </a:spcAft>
            </a:pPr>
            <a:r>
              <a:rPr sz="2000">
                <a:latin typeface="Times New Roman"/>
              </a:rPr>
              <a:t>Course Certificate</a:t>
            </a:r>
          </a:p>
          <a:p>
            <a:r>
              <a:rPr sz="2000">
                <a:latin typeface="Times New Roman"/>
              </a:rPr>
              <a:t>Abstract</a:t>
            </a:r>
          </a:p>
          <a:p>
            <a:r>
              <a:rPr sz="2000">
                <a:latin typeface="Times New Roman"/>
              </a:rPr>
              <a:t>Introduction</a:t>
            </a:r>
          </a:p>
          <a:p>
            <a:r>
              <a:rPr sz="2000">
                <a:latin typeface="Times New Roman"/>
              </a:rPr>
              <a:t>System Architecture</a:t>
            </a:r>
          </a:p>
          <a:p>
            <a:r>
              <a:rPr sz="2000">
                <a:latin typeface="Times New Roman"/>
              </a:rPr>
              <a:t>Module Implementation</a:t>
            </a:r>
          </a:p>
          <a:p>
            <a:r>
              <a:rPr sz="2000">
                <a:latin typeface="Times New Roman"/>
              </a:rPr>
              <a:t>Results and Discussions</a:t>
            </a:r>
          </a:p>
          <a:p>
            <a:r>
              <a:rPr sz="2000">
                <a:latin typeface="Times New Roman"/>
              </a:rPr>
              <a:t>Conclusion</a:t>
            </a:r>
          </a:p>
          <a:p>
            <a:r>
              <a:rPr sz="2000">
                <a:latin typeface="Times New Roman"/>
              </a:rPr>
              <a:t>References</a:t>
            </a:r>
          </a:p>
        </p:txBody>
      </p:sp>
      <p:sp>
        <p:nvSpPr>
          <p:cNvPr id="4" name="Date Placeholder 3"/>
          <p:cNvSpPr>
            <a:spLocks noGrp="1"/>
          </p:cNvSpPr>
          <p:nvPr>
            <p:ph type="dt" sz="half" idx="10"/>
          </p:nvPr>
        </p:nvSpPr>
        <p:spPr/>
        <p:txBody>
          <a:bodyPr/>
          <a:lstStyle/>
          <a:p>
            <a:fld id="{EB7275DB-6D13-480B-AC77-F5019BDC5287}" type="datetime3">
              <a:rPr lang="en-US" smtClean="0"/>
              <a:t>24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r>
              <a:t>2</a:t>
            </a:r>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sz="2800" b="1">
                <a:latin typeface="Times New Roman"/>
              </a:rPr>
              <a:t>COURSE CERTIFICATE</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r>
              <a:t>3</a:t>
            </a:r>
            <a:endParaRPr lang="en-US" dirty="0"/>
          </a:p>
        </p:txBody>
      </p:sp>
      <p:sp>
        <p:nvSpPr>
          <p:cNvPr id="4" name="Content Placeholder 3"/>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dirty="0">
                <a:latin typeface="Times New Roman"/>
              </a:rPr>
              <a:t>ABSTRACT</a:t>
            </a:r>
          </a:p>
        </p:txBody>
      </p:sp>
      <p:sp>
        <p:nvSpPr>
          <p:cNvPr id="3" name="Content Placeholder 2"/>
          <p:cNvSpPr>
            <a:spLocks noGrp="1"/>
          </p:cNvSpPr>
          <p:nvPr>
            <p:ph idx="1"/>
          </p:nvPr>
        </p:nvSpPr>
        <p:spPr/>
        <p:txBody>
          <a:bodyPr>
            <a:normAutofit/>
          </a:bodyPr>
          <a:lstStyle/>
          <a:p>
            <a:pPr marL="0" indent="0" algn="just">
              <a:spcAft>
                <a:spcPts val="400"/>
              </a:spcAft>
              <a:buNone/>
            </a:pPr>
            <a:r>
              <a:rPr sz="2000" b="0" dirty="0">
                <a:latin typeface="Times New Roman"/>
              </a:rPr>
              <a:t>Project Overview: Developed a centralized, secure, full-stack web application called 'Student Placement &amp; Internship Management System' designed to automate campus recruitment and internship lifecycle processes.</a:t>
            </a:r>
            <a:r>
              <a:rPr lang="en-IN" sz="2000" dirty="0">
                <a:latin typeface="Times New Roman"/>
              </a:rPr>
              <a:t> </a:t>
            </a:r>
            <a:r>
              <a:rPr sz="2000" b="0" dirty="0">
                <a:latin typeface="Times New Roman"/>
              </a:rPr>
              <a:t>Core Functionalities: Empowers students to manage academic profiles, calculate profile completion metrics, discover full-time jobs and internships with multi-criteria filters, apply with single-click, and track live application status.</a:t>
            </a:r>
            <a:r>
              <a:rPr lang="en-IN" sz="2000" b="0" dirty="0">
                <a:latin typeface="Times New Roman"/>
              </a:rPr>
              <a:t> </a:t>
            </a:r>
            <a:r>
              <a:rPr sz="2000" b="0" dirty="0">
                <a:latin typeface="Times New Roman"/>
              </a:rPr>
              <a:t>Placement &amp; Recruiter Features: Enables placement officers and corporate recruiters to post verified openings, shortlist eligible candidates via CGPA criteria, schedule online/offline interviews, and broadcast instant notifications.</a:t>
            </a:r>
            <a:r>
              <a:rPr lang="en-IN" sz="2000" b="0" dirty="0">
                <a:latin typeface="Times New Roman"/>
              </a:rPr>
              <a:t> </a:t>
            </a:r>
            <a:r>
              <a:rPr sz="2000" b="0" dirty="0">
                <a:latin typeface="Times New Roman"/>
              </a:rPr>
              <a:t>Architecture &amp; Technology Stack: Built on Java 17+, Spring Boot 3 REST API architecture, Spring Data JPA/Hibernate, MySQL 8.0 relational database, and responsive Bootstrap 5 frontend.</a:t>
            </a:r>
            <a:r>
              <a:rPr lang="en-IN" sz="2000" b="0" dirty="0">
                <a:latin typeface="Times New Roman"/>
              </a:rPr>
              <a:t> </a:t>
            </a:r>
            <a:r>
              <a:rPr sz="2000" b="0" dirty="0">
                <a:latin typeface="Times New Roman"/>
              </a:rPr>
              <a:t>Impact &amp; Value: Eliminates manual record keeping, guarantees 100% prevention of duplicate candidate applications, and delivers a transparent, real-time recruitment ecosystem for colleges.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latin typeface="Times New Roman"/>
              </a:rPr>
              <a:t>INTRODUCTION</a:t>
            </a:r>
          </a:p>
        </p:txBody>
      </p:sp>
      <p:sp>
        <p:nvSpPr>
          <p:cNvPr id="3" name="Content Placeholder 2"/>
          <p:cNvSpPr>
            <a:spLocks noGrp="1"/>
          </p:cNvSpPr>
          <p:nvPr>
            <p:ph idx="1"/>
          </p:nvPr>
        </p:nvSpPr>
        <p:spPr/>
        <p:txBody>
          <a:bodyPr/>
          <a:lstStyle/>
          <a:p>
            <a:pPr marL="0" indent="0">
              <a:spcBef>
                <a:spcPts val="400"/>
              </a:spcBef>
              <a:spcAft>
                <a:spcPts val="200"/>
              </a:spcAft>
              <a:buNone/>
            </a:pPr>
            <a:r>
              <a:rPr lang="en-IN" sz="2000" dirty="0">
                <a:latin typeface="Times New Roman" panose="02020603050405020304" pitchFamily="18" charset="0"/>
                <a:cs typeface="Times New Roman" panose="02020603050405020304" pitchFamily="18" charset="0"/>
              </a:rPr>
              <a:t>Traditional campus placement processes rely on fragmented spreadsheets and manual notice boards, resulting in communication delays and missed opportunities. Students often lack a centralized platform to monitor multiple job applications, eligibility requirements, interview dates, and recruitment drive schedules. To address these challenges, the proposed system provides an integrated web portal that connects Students, Placement Officers (Admins), and Corporate Recruiters through automated workflows and live application tracking. Java is used because it provides robust type safety, platform independence, and high enterprise scalability, while Spring Boot supports auto-configured RESTful controllers, Spring Data JPA for efficient database persistence, and Spring Security with B Crypt password hashing for secure authentication.</a:t>
            </a:r>
          </a:p>
          <a:p>
            <a:pPr>
              <a:spcBef>
                <a:spcPts val="400"/>
              </a:spcBef>
              <a:spcAft>
                <a:spcPts val="200"/>
              </a:spcAft>
            </a:pPr>
            <a:endParaRPr sz="1600" b="0" dirty="0">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latin typeface="Times New Roman"/>
              </a:rPr>
              <a:t>SYSTEM ARCHITECTURE</a:t>
            </a:r>
          </a:p>
        </p:txBody>
      </p:sp>
      <p:sp>
        <p:nvSpPr>
          <p:cNvPr id="3" name="Content Placeholder 2"/>
          <p:cNvSpPr>
            <a:spLocks noGrp="1"/>
          </p:cNvSpPr>
          <p:nvPr>
            <p:ph idx="1"/>
          </p:nvPr>
        </p:nvSpPr>
        <p:spPr>
          <a:xfrm>
            <a:off x="457200" y="1610032"/>
            <a:ext cx="8229600" cy="4525963"/>
          </a:xfrm>
        </p:spPr>
        <p:txBody>
          <a:bodyPr/>
          <a:lstStyle/>
          <a:p>
            <a:pPr>
              <a:spcBef>
                <a:spcPts val="400"/>
              </a:spcBef>
              <a:spcAft>
                <a:spcPts val="200"/>
              </a:spcAft>
            </a:pPr>
            <a:r>
              <a:rPr sz="1700" b="1">
                <a:latin typeface="Times New Roman"/>
              </a:rPr>
              <a:t>3-Tier Enterprise Web Architecture</a:t>
            </a:r>
          </a:p>
          <a:p>
            <a:pPr lvl="1"/>
            <a:r>
              <a:rPr sz="1600" b="0">
                <a:latin typeface="Times New Roman"/>
              </a:rPr>
              <a:t>Presentation Layer: Responsive frontend built with HTML5, CSS3, JavaScript (REST Client), and Bootstrap 5 for cross-device desktop and mobile access.</a:t>
            </a:r>
          </a:p>
          <a:p>
            <a:pPr lvl="1"/>
            <a:r>
              <a:rPr sz="1600" b="0">
                <a:latin typeface="Times New Roman"/>
              </a:rPr>
              <a:t>Application Layer: Spring Boot REST Controllers, Service Layer business logic, and Global Exception Handlers returning standard API responses.</a:t>
            </a:r>
          </a:p>
          <a:p>
            <a:pPr lvl="1"/>
            <a:r>
              <a:rPr sz="1600" b="0">
                <a:latin typeface="Times New Roman"/>
              </a:rPr>
              <a:t>Data Persistence Layer: Spring Data JPA and Hibernate ORM managing relational entities (Users, Students, Jobs, Internships, Applications, Interviews, Placement Drives).</a:t>
            </a:r>
          </a:p>
          <a:p>
            <a:r>
              <a:rPr sz="1700" b="1">
                <a:latin typeface="Times New Roman"/>
              </a:rPr>
              <a:t>Security &amp; Data Integrity</a:t>
            </a:r>
          </a:p>
          <a:p>
            <a:pPr lvl="1"/>
            <a:r>
              <a:rPr sz="1600" b="0">
                <a:latin typeface="Times New Roman"/>
              </a:rPr>
              <a:t>Role-Based Access Control (RBAC): Distinct authorization boundaries for Student, Admin, and Recruiter roles with BCrypt password encryption.</a:t>
            </a:r>
          </a:p>
          <a:p>
            <a:pPr lvl="1"/>
            <a:r>
              <a:rPr sz="1600" b="0">
                <a:latin typeface="Times New Roman"/>
              </a:rPr>
              <a:t>Unique Constraint Enforcement: Relational database rules enforce zero duplicate applications per student and job/internship opening.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latin typeface="Times New Roman"/>
              </a:rPr>
              <a:t>MODULE IMPLEMENTATION</a:t>
            </a:r>
          </a:p>
        </p:txBody>
      </p:sp>
      <p:sp>
        <p:nvSpPr>
          <p:cNvPr id="3" name="Content Placeholder 2"/>
          <p:cNvSpPr>
            <a:spLocks noGrp="1"/>
          </p:cNvSpPr>
          <p:nvPr>
            <p:ph idx="1"/>
          </p:nvPr>
        </p:nvSpPr>
        <p:spPr/>
        <p:txBody>
          <a:bodyPr/>
          <a:lstStyle/>
          <a:p>
            <a:pPr>
              <a:spcBef>
                <a:spcPts val="400"/>
              </a:spcBef>
              <a:spcAft>
                <a:spcPts val="200"/>
              </a:spcAft>
            </a:pPr>
            <a:r>
              <a:rPr sz="1500" b="1">
                <a:latin typeface="Times New Roman"/>
              </a:rPr>
              <a:t>1. Authentication &amp; Role-Based Authorization Module</a:t>
            </a:r>
          </a:p>
          <a:p>
            <a:pPr lvl="1"/>
            <a:r>
              <a:rPr sz="1400" b="0">
                <a:latin typeface="Times New Roman"/>
              </a:rPr>
              <a:t>User registration, secure login, BCrypt password hashing, and role-based routing (Student, Admin, Recruiter).</a:t>
            </a:r>
          </a:p>
          <a:p>
            <a:r>
              <a:rPr sz="1500" b="1">
                <a:latin typeface="Times New Roman"/>
              </a:rPr>
              <a:t>2. Student Profile &amp; Academic Management Module</a:t>
            </a:r>
          </a:p>
          <a:p>
            <a:pPr lvl="1"/>
            <a:r>
              <a:rPr sz="1400" b="0">
                <a:latin typeface="Times New Roman"/>
              </a:rPr>
              <a:t>Manages student CGPA, department, graduation year, skills, certifications, projects, and dynamic completion percentage.</a:t>
            </a:r>
          </a:p>
          <a:p>
            <a:r>
              <a:rPr sz="1500" b="1">
                <a:latin typeface="Times New Roman"/>
              </a:rPr>
              <a:t>3. Job &amp; Internship Management Module</a:t>
            </a:r>
          </a:p>
          <a:p>
            <a:pPr lvl="1"/>
            <a:r>
              <a:rPr sz="1400" b="0">
                <a:latin typeface="Times New Roman"/>
              </a:rPr>
              <a:t>Full CRUD operations for postings with eligibility filters (min CGPA, skills, salary/stipend, deadlines, openings).</a:t>
            </a:r>
          </a:p>
          <a:p>
            <a:r>
              <a:rPr sz="1500" b="1">
                <a:latin typeface="Times New Roman"/>
              </a:rPr>
              <a:t>4. Application Tracking &amp; Status Workflow Module</a:t>
            </a:r>
          </a:p>
          <a:p>
            <a:pPr lvl="1"/>
            <a:r>
              <a:rPr sz="1400" b="0">
                <a:latin typeface="Times New Roman"/>
              </a:rPr>
              <a:t>Single-click apply with duplicate prevention; multi-stage statuses (Applied, Shortlisted, Interview Scheduled, Selected, Rejected).</a:t>
            </a:r>
          </a:p>
          <a:p>
            <a:r>
              <a:rPr sz="1500" b="1">
                <a:latin typeface="Times New Roman"/>
              </a:rPr>
              <a:t>5. Interview Scheduling &amp; In-App Notification Module</a:t>
            </a:r>
          </a:p>
          <a:p>
            <a:pPr lvl="1"/>
            <a:r>
              <a:rPr sz="1400" b="0">
                <a:latin typeface="Times New Roman"/>
              </a:rPr>
              <a:t>Coordinates online/offline interview rounds with meeting links and triggers automated in-app alerts on status updates.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latin typeface="Times New Roman"/>
              </a:rPr>
              <a:t>RESULTS AND DISCUSSIONS</a:t>
            </a:r>
          </a:p>
        </p:txBody>
      </p:sp>
      <p:sp>
        <p:nvSpPr>
          <p:cNvPr id="3" name="Content Placeholder 2"/>
          <p:cNvSpPr>
            <a:spLocks noGrp="1"/>
          </p:cNvSpPr>
          <p:nvPr>
            <p:ph idx="1"/>
          </p:nvPr>
        </p:nvSpPr>
        <p:spPr/>
        <p:txBody>
          <a:bodyPr/>
          <a:lstStyle/>
          <a:p>
            <a:pPr>
              <a:spcBef>
                <a:spcPts val="400"/>
              </a:spcBef>
              <a:spcAft>
                <a:spcPts val="200"/>
              </a:spcAft>
            </a:pPr>
            <a:r>
              <a:rPr sz="1700" b="1">
                <a:latin typeface="Times New Roman"/>
              </a:rPr>
              <a:t>Functional &amp; Performance Results</a:t>
            </a:r>
          </a:p>
          <a:p>
            <a:pPr lvl="1"/>
            <a:r>
              <a:rPr sz="1600" b="0">
                <a:latin typeface="Times New Roman"/>
              </a:rPr>
              <a:t>Zero Execution Errors: Fully functional Spring Boot backend and responsive web portal running smoothly on port 8080.</a:t>
            </a:r>
          </a:p>
          <a:p>
            <a:pPr lvl="1"/>
            <a:r>
              <a:rPr sz="1600" b="0">
                <a:latin typeface="Times New Roman"/>
              </a:rPr>
              <a:t>High Performance: Optimized JPA database queries achieve sub-30ms response times for searching and filtering openings.</a:t>
            </a:r>
          </a:p>
          <a:p>
            <a:r>
              <a:rPr sz="1700" b="1">
                <a:latin typeface="Times New Roman"/>
              </a:rPr>
              <a:t>Automated Testing &amp; Verification</a:t>
            </a:r>
          </a:p>
          <a:p>
            <a:pPr lvl="1"/>
            <a:r>
              <a:rPr sz="1600" b="0">
                <a:latin typeface="Times New Roman"/>
              </a:rPr>
              <a:t>100% test pass rate across automated JUnit 5 / Spring Boot test suite verifying registration, login, application creation, duplicate submission prevention, and status changes.</a:t>
            </a:r>
          </a:p>
          <a:p>
            <a:r>
              <a:rPr sz="1700" b="1">
                <a:latin typeface="Times New Roman"/>
              </a:rPr>
              <a:t>User Experience (UX) Outcomes</a:t>
            </a:r>
          </a:p>
          <a:p>
            <a:pPr lvl="1"/>
            <a:r>
              <a:rPr sz="1600" b="0">
                <a:latin typeface="Times New Roman"/>
              </a:rPr>
              <a:t>Intuitive blue &amp; white enterprise dashboard with live status badges, metric counters, and instant alert notifications.</a:t>
            </a:r>
          </a:p>
          <a:p>
            <a:pPr lvl="1"/>
            <a:r>
              <a:rPr sz="1600" b="0">
                <a:latin typeface="Times New Roman"/>
              </a:rPr>
              <a:t>Eliminates duplicate applications and reduces manual placement cell coordination time significantly.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latin typeface="Times New Roman"/>
              </a:rPr>
              <a:t>CONCLUSION</a:t>
            </a:r>
          </a:p>
        </p:txBody>
      </p:sp>
      <p:sp>
        <p:nvSpPr>
          <p:cNvPr id="3" name="Content Placeholder 2"/>
          <p:cNvSpPr>
            <a:spLocks noGrp="1"/>
          </p:cNvSpPr>
          <p:nvPr>
            <p:ph idx="1"/>
          </p:nvPr>
        </p:nvSpPr>
        <p:spPr/>
        <p:txBody>
          <a:bodyPr/>
          <a:lstStyle/>
          <a:p>
            <a:pPr>
              <a:spcBef>
                <a:spcPts val="400"/>
              </a:spcBef>
              <a:spcAft>
                <a:spcPts val="200"/>
              </a:spcAft>
            </a:pPr>
            <a:r>
              <a:rPr sz="1700" b="1">
                <a:latin typeface="Times New Roman"/>
              </a:rPr>
              <a:t>Project Summary</a:t>
            </a:r>
          </a:p>
          <a:p>
            <a:pPr lvl="1"/>
            <a:r>
              <a:rPr sz="1600" b="0">
                <a:latin typeface="Times New Roman"/>
              </a:rPr>
              <a:t>Successfully built, tested, and validated the 'Student Placement &amp; Internship Management System' using Java 17+, Spring Boot 3, MySQL 8.0, and Bootstrap 5.</a:t>
            </a:r>
          </a:p>
          <a:p>
            <a:pPr lvl="1"/>
            <a:r>
              <a:rPr sz="1600" b="0">
                <a:latin typeface="Times New Roman"/>
              </a:rPr>
              <a:t>Delivered an end-to-end recruitment management portal connecting students, recruiters, and placement officers seamlessly.</a:t>
            </a:r>
          </a:p>
          <a:p>
            <a:r>
              <a:rPr sz="1700" b="1">
                <a:latin typeface="Times New Roman"/>
              </a:rPr>
              <a:t>Key Achievements</a:t>
            </a:r>
          </a:p>
          <a:p>
            <a:pPr lvl="1"/>
            <a:r>
              <a:rPr sz="1600" b="0">
                <a:latin typeface="Times New Roman"/>
              </a:rPr>
              <a:t>Robust relational database design with complete data integrity and duplicate application prevention.</a:t>
            </a:r>
          </a:p>
          <a:p>
            <a:pPr lvl="1"/>
            <a:r>
              <a:rPr sz="1600" b="0">
                <a:latin typeface="Times New Roman"/>
              </a:rPr>
              <a:t>Real-time analytics dashboards, dynamic profile scoring, and in-app notification alerts.</a:t>
            </a:r>
          </a:p>
          <a:p>
            <a:r>
              <a:rPr sz="1700" b="1">
                <a:latin typeface="Times New Roman"/>
              </a:rPr>
              <a:t>Future Scope &amp; Enhancements</a:t>
            </a:r>
          </a:p>
          <a:p>
            <a:pPr lvl="1"/>
            <a:r>
              <a:rPr sz="1600" b="0">
                <a:latin typeface="Times New Roman"/>
              </a:rPr>
              <a:t>Automated email and SMS gateways for interview call letters and offer releases.</a:t>
            </a:r>
          </a:p>
          <a:p>
            <a:pPr lvl="1"/>
            <a:r>
              <a:rPr sz="1600" b="0">
                <a:latin typeface="Times New Roman"/>
              </a:rPr>
              <a:t>AI-powered resume parsing and intelligent candidate-to-job matching algorithm.</a:t>
            </a:r>
          </a:p>
          <a:p>
            <a:pPr lvl="1"/>
            <a:r>
              <a:rPr sz="1600" b="0">
                <a:latin typeface="Times New Roman"/>
              </a:rPr>
              <a:t>Cross-platform mobile application using Flutter / React Native for on-the-go notifications.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sz="2800" b="1">
                <a:latin typeface="Times New Roman"/>
              </a:rPr>
              <a:t>REFERENCES</a:t>
            </a:r>
          </a:p>
        </p:txBody>
      </p:sp>
      <p:sp>
        <p:nvSpPr>
          <p:cNvPr id="3" name="Content Placeholder 2">
            <a:extLst>
              <a:ext uri="{FF2B5EF4-FFF2-40B4-BE49-F238E27FC236}">
                <a16:creationId xmlns:a16="http://schemas.microsoft.com/office/drawing/2014/main" id="{9BC309EE-F211-8F10-9087-6FE7260000F2}"/>
              </a:ext>
            </a:extLst>
          </p:cNvPr>
          <p:cNvSpPr>
            <a:spLocks noGrp="1"/>
          </p:cNvSpPr>
          <p:nvPr>
            <p:ph idx="1"/>
          </p:nvPr>
        </p:nvSpPr>
        <p:spPr>
          <a:xfrm>
            <a:off x="457200" y="1371600"/>
            <a:ext cx="8229600" cy="5105400"/>
          </a:xfrm>
        </p:spPr>
        <p:txBody>
          <a:bodyPr>
            <a:noAutofit/>
          </a:bodyPr>
          <a:lstStyle/>
          <a:p>
            <a:r>
              <a:rPr lang="en-IN" sz="2400" dirty="0">
                <a:latin typeface="Time new roman"/>
              </a:rPr>
              <a:t>1. Spring Boot Documentation: </a:t>
            </a:r>
            <a:r>
              <a:rPr lang="en-IN" sz="2400" dirty="0">
                <a:latin typeface="Time new roman"/>
                <a:hlinkClick r:id="rId3"/>
              </a:rPr>
              <a:t>https://docs.spring.io/spring-boot/index.html</a:t>
            </a:r>
            <a:endParaRPr lang="en-IN" sz="2400" dirty="0">
              <a:latin typeface="Time new roman"/>
            </a:endParaRPr>
          </a:p>
          <a:p>
            <a:r>
              <a:rPr lang="en-IN" sz="2400" dirty="0">
                <a:latin typeface="Time new roman"/>
              </a:rPr>
              <a:t>2. Java SE 17 Documentation: </a:t>
            </a:r>
            <a:r>
              <a:rPr lang="en-IN" sz="2400" dirty="0">
                <a:latin typeface="Time new roman"/>
                <a:hlinkClick r:id="rId4"/>
              </a:rPr>
              <a:t>https://docs.oracle.com/en/java/javase/17/</a:t>
            </a:r>
            <a:endParaRPr lang="en-IN" sz="2400" dirty="0">
              <a:latin typeface="Time new roman"/>
            </a:endParaRPr>
          </a:p>
          <a:p>
            <a:r>
              <a:rPr lang="en-IN" sz="2400" dirty="0">
                <a:latin typeface="Time new roman"/>
              </a:rPr>
              <a:t>3. Java Persistence with Hibernate: </a:t>
            </a:r>
            <a:r>
              <a:rPr lang="en-IN" sz="2400" dirty="0">
                <a:latin typeface="Time new roman"/>
                <a:hlinkClick r:id="rId5"/>
              </a:rPr>
              <a:t>https://www.manning.com/books/java-persistence-with-hibernate</a:t>
            </a:r>
            <a:endParaRPr lang="en-IN" sz="2400" dirty="0">
              <a:latin typeface="Time new roman"/>
            </a:endParaRPr>
          </a:p>
          <a:p>
            <a:r>
              <a:rPr lang="en-IN" sz="2400" dirty="0">
                <a:latin typeface="Time new roman"/>
              </a:rPr>
              <a:t>4. MySQL 8.0 Reference Manual: </a:t>
            </a:r>
            <a:r>
              <a:rPr lang="en-IN" sz="2400" dirty="0">
                <a:latin typeface="Time new roman"/>
                <a:hlinkClick r:id="rId6"/>
              </a:rPr>
              <a:t>https://dev.mysql.com/doc/refman/8.0/en/</a:t>
            </a:r>
            <a:endParaRPr lang="en-IN" sz="2400" dirty="0">
              <a:latin typeface="Time new roman"/>
            </a:endParaRPr>
          </a:p>
          <a:p>
            <a:r>
              <a:rPr lang="en-IN" sz="2400" dirty="0">
                <a:latin typeface="Time new roman"/>
              </a:rPr>
              <a:t>5. Bootstrap 5 Documentation: </a:t>
            </a:r>
            <a:r>
              <a:rPr lang="en-IN" sz="2400" dirty="0">
                <a:latin typeface="Time new roman"/>
                <a:hlinkClick r:id="rId7"/>
              </a:rPr>
              <a:t>https://getbootstrap.com/docs/5.3/</a:t>
            </a:r>
            <a:endParaRPr lang="en-IN" sz="2400" dirty="0">
              <a:latin typeface="Time new roman"/>
            </a:endParaRPr>
          </a:p>
          <a:p>
            <a:pPr marL="0" indent="0" algn="just">
              <a:spcAft>
                <a:spcPts val="1000"/>
              </a:spcAft>
              <a:buNone/>
            </a:pPr>
            <a:endParaRPr sz="2400" dirty="0">
              <a:latin typeface="Time new roman"/>
            </a:endParaRPr>
          </a:p>
        </p:txBody>
      </p:sp>
      <p:sp>
        <p:nvSpPr>
          <p:cNvPr id="4" name="Date Placeholder 3">
            <a:extLst>
              <a:ext uri="{FF2B5EF4-FFF2-40B4-BE49-F238E27FC236}">
                <a16:creationId xmlns:a16="http://schemas.microsoft.com/office/drawing/2014/main" id="{2B427FE9-29DA-0E49-B4DE-4727923C5DB0}"/>
              </a:ext>
            </a:extLst>
          </p:cNvPr>
          <p:cNvSpPr>
            <a:spLocks noGrp="1"/>
          </p:cNvSpPr>
          <p:nvPr>
            <p:ph type="dt" sz="half" idx="10"/>
          </p:nvPr>
        </p:nvSpPr>
        <p:spPr/>
        <p:txBody>
          <a:bodyPr/>
          <a:lstStyle/>
          <a:p>
            <a:r>
              <a:t>14 September 2026</a:t>
            </a:r>
            <a:endParaRPr lang="en-US" dirty="0"/>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r>
              <a:t>10</a:t>
            </a:r>
            <a:endParaRPr lang="en-US"/>
          </a:p>
        </p:txBody>
      </p:sp>
    </p:spTree>
    <p:extLst>
      <p:ext uri="{BB962C8B-B14F-4D97-AF65-F5344CB8AC3E}">
        <p14:creationId xmlns:p14="http://schemas.microsoft.com/office/powerpoint/2010/main" val="3811643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24 October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r>
              <a:t>11</a:t>
            </a:r>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999</Words>
  <Application>Microsoft Office PowerPoint</Application>
  <PresentationFormat>On-screen Show (4:3)</PresentationFormat>
  <Paragraphs>85</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 new roman</vt:lpstr>
      <vt:lpstr>Times New Roman</vt:lpstr>
      <vt:lpstr>Custom Design</vt:lpstr>
      <vt:lpstr>  </vt:lpstr>
      <vt:lpstr>AGENDA</vt:lpstr>
      <vt:lpstr>COURSE CERTIFICATE</vt:lpstr>
      <vt:lpstr>ABSTRACT</vt:lpstr>
      <vt:lpstr>INTRODUCTION</vt:lpstr>
      <vt:lpstr>SYSTEM ARCHITECTURE</vt:lpstr>
      <vt:lpstr>MODULE IMPLEMENTATION</vt:lpstr>
      <vt:lpstr>RESULTS AND DISCUSSIONS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thallapakasritanavi@gmail.com</cp:lastModifiedBy>
  <cp:revision>1</cp:revision>
  <dcterms:modified xsi:type="dcterms:W3CDTF">2026-10-24T13:24:54Z</dcterms:modified>
</cp:coreProperties>
</file>